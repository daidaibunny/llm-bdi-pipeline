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6050d882324732" /><Relationship Type="http://schemas.openxmlformats.org/officeDocument/2006/relationships/extended-properties" Target="/docProps/app.xml" Id="Rd6575ec77ba14c92" /><Relationship Type="http://schemas.openxmlformats.org/officeDocument/2006/relationships/officeDocument" Target="/ppt/presentation.xml" Id="Ra2ae85d102274f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706a77cb0d45cc"/>
  </p:sldMasterIdLst>
  <p:notesMasterIdLst>
    <p:notesMasterId xmlns:r="http://schemas.openxmlformats.org/officeDocument/2006/relationships" r:id="Re26867a78d2f4d8c"/>
  </p:notesMasterIdLst>
  <p:sldIdLst>
    <p:sldId xmlns:r="http://schemas.openxmlformats.org/officeDocument/2006/relationships" id="256" r:id="R5f4d4927f1514573"/>
  </p:sldIdLst>
  <p:sldSz cx="18288000" cy="11430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6cf3d88d8549b6" /><Relationship Type="http://schemas.openxmlformats.org/officeDocument/2006/relationships/slideMaster" Target="/ppt/slideMasters/slideMaster1.xml" Id="R5b706a77cb0d45cc" /><Relationship Type="http://schemas.openxmlformats.org/officeDocument/2006/relationships/notesMaster" Target="/ppt/notesMasters/notesMaster1.xml" Id="Re26867a78d2f4d8c" /><Relationship Type="http://schemas.openxmlformats.org/officeDocument/2006/relationships/presProps" Target="/ppt/presProps.xml" Id="Rd380279598c446bb" /><Relationship Type="http://schemas.openxmlformats.org/officeDocument/2006/relationships/tableStyles" Target="/ppt/tableStyles.xml" Id="R11bdaaca9c524efa" /><Relationship Type="http://schemas.openxmlformats.org/officeDocument/2006/relationships/slide" Target="/ppt/slides/slide1.xml" Id="R5f4d4927f15145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eef3a725d845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1ff4100f38423a" /><Relationship Type="http://schemas.openxmlformats.org/officeDocument/2006/relationships/notesMaster" Target="/ppt/notesMasters/notesMaster1.xml" Id="R207fc8ef93ff49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a6e9c597c42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b2a0300f144c0b" /><Relationship Type="http://schemas.openxmlformats.org/officeDocument/2006/relationships/slideLayout" Target="/ppt/slideLayouts/slideLayout1.xml" Id="R1cf6354b5ffa48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f6354b5ffa48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458c9159242c2" /><Relationship Type="http://schemas.openxmlformats.org/officeDocument/2006/relationships/notesSlide" Target="/ppt/notesSlides/notesSlide1.xml" Id="R64a7aa8ed72e4c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panel-frame">
            <a:extLst xmlns:a="http://schemas.openxmlformats.org/drawingml/2006/main">
              <a:ext uri="{FF2B5EF4-FFF2-40B4-BE49-F238E27FC236}">
                <a16:creationId xmlns:a16="http://schemas.microsoft.com/office/drawing/2014/main" id="{58F2B11D-9D09-4DFA-8B47-9887BB33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14300"/>
            <a:ext cx="18059400" cy="11201400"/>
          </a:xfrm>
          <a:prstGeom xmlns:a="http://schemas.openxmlformats.org/drawingml/2006/main" prst="roundRect">
            <a:avLst>
              <a:gd name="adj" fmla="val 1531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B99BDA"/>
            </a:solidFill>
            <a:prstDash val="dash"/>
          </a:ln>
        </p:spPr>
      </p:sp>
      <p:sp>
        <p:nvSpPr>
          <p:cNvPr id="2" name="panel-title">
            <a:extLst xmlns:a="http://schemas.openxmlformats.org/drawingml/2006/main">
              <a:ext uri="{FF2B5EF4-FFF2-40B4-BE49-F238E27FC236}">
                <a16:creationId xmlns:a16="http://schemas.microsoft.com/office/drawing/2014/main" id="{3EAD1D16-4D59-4DB7-AE33-9BFF512C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(b)  DFA-guided query compilation</a:t>
            </a:r>
          </a:p>
        </p:txBody>
      </p:sp>
      <p:sp>
        <p:nvSpPr>
          <p:cNvPr id="3" name="natural-language-query-box">
            <a:extLst xmlns:a="http://schemas.openxmlformats.org/drawingml/2006/main">
              <a:ext uri="{FF2B5EF4-FFF2-40B4-BE49-F238E27FC236}">
                <a16:creationId xmlns:a16="http://schemas.microsoft.com/office/drawing/2014/main" id="{94C4704D-E263-49D4-ACD5-FF8A712A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309562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14288">
            <a:solidFill>
              <a:srgbClr val="8C949C"/>
            </a:solidFill>
            <a:prstDash val="solid"/>
          </a:ln>
        </p:spPr>
      </p:sp>
      <p:sp>
        <p:nvSpPr>
          <p:cNvPr id="4" name="natural-language-query-text">
            <a:extLst xmlns:a="http://schemas.openxmlformats.org/drawingml/2006/main">
              <a:ext uri="{FF2B5EF4-FFF2-40B4-BE49-F238E27FC236}">
                <a16:creationId xmlns:a16="http://schemas.microsoft.com/office/drawing/2014/main" id="{C94BAE71-9372-4E50-B149-2E9AB789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09625"/>
            <a:ext cx="29432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Natural-language query</a:t>
            </a:r>
          </a:p>
          <a:p xmlns:a="http://schemas.openxmlformats.org/drawingml/2006/main">
            <a:pPr algn="l">
              <a:defRPr sz="14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“Eventually place C on D; next,</a:t>
            </a:r>
          </a:p>
          <a:p xmlns:a="http://schemas.openxmlformats.org/drawingml/2006/main">
            <a:pPr algn="l">
              <a:defRPr sz="14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build B on C and A on B.”</a:t>
            </a:r>
          </a:p>
        </p:txBody>
      </p:sp>
      <p:sp>
        <p:nvSpPr>
          <p:cNvPr id="5" name="ltlf-goal-box">
            <a:extLst xmlns:a="http://schemas.openxmlformats.org/drawingml/2006/main">
              <a:ext uri="{FF2B5EF4-FFF2-40B4-BE49-F238E27FC236}">
                <a16:creationId xmlns:a16="http://schemas.microsoft.com/office/drawing/2014/main" id="{15FF942B-989B-4F3A-8344-E7011F89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76300"/>
            <a:ext cx="48101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4288">
            <a:solidFill>
              <a:srgbClr val="B47B00"/>
            </a:solidFill>
            <a:prstDash val="solid"/>
          </a:ln>
        </p:spPr>
      </p:sp>
      <p:sp>
        <p:nvSpPr>
          <p:cNvPr id="6" name="ltlf-goal-text">
            <a:extLst xmlns:a="http://schemas.openxmlformats.org/drawingml/2006/main">
              <a:ext uri="{FF2B5EF4-FFF2-40B4-BE49-F238E27FC236}">
                <a16:creationId xmlns:a16="http://schemas.microsoft.com/office/drawing/2014/main" id="{0949062D-94C5-486F-AAFB-DDC5750B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923925"/>
            <a:ext cx="46577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LTLf goal</a:t>
            </a:r>
          </a:p>
          <a:p xmlns:a="http://schemas.openxmlformats.org/drawingml/2006/main">
            <a:pPr algn="ctr">
              <a:defRPr sz="16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φq = F(on(C,D) ∧ X(on(B,C) ∧ on(A,B)))</a:t>
            </a:r>
          </a:p>
        </p:txBody>
      </p:sp>
      <p:cxnSp>
        <p:nvCxnSpPr>
          <p:cNvPr id="112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495675" y="1343025"/>
            <a:ext cx="1076325" cy="9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8" name="llm-translation-label">
            <a:extLst xmlns:a="http://schemas.openxmlformats.org/drawingml/2006/main">
              <a:ext uri="{FF2B5EF4-FFF2-40B4-BE49-F238E27FC236}">
                <a16:creationId xmlns:a16="http://schemas.microsoft.com/office/drawing/2014/main" id="{B2425126-653F-4325-85FE-D0DAA7A9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1144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4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B6470"/>
                </a:solidFill>
                <a:latin typeface="Times New Roman"/>
                <a:ea typeface="Times New Roman"/>
                <a:cs typeface="Times New Roman"/>
              </a:rPr>
              <a:t>LLM translation</a:t>
            </a:r>
          </a:p>
        </p:txBody>
      </p:sp>
      <p:sp>
        <p:nvSpPr>
          <p:cNvPr id="9" name="ltlf2dfa-label">
            <a:extLst xmlns:a="http://schemas.openxmlformats.org/drawingml/2006/main">
              <a:ext uri="{FF2B5EF4-FFF2-40B4-BE49-F238E27FC236}">
                <a16:creationId xmlns:a16="http://schemas.microsoft.com/office/drawing/2014/main" id="{1B570D07-E33A-42EA-BA77-F1A08344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0668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97384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4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B6470"/>
                </a:solidFill>
                <a:latin typeface="Times New Roman"/>
                <a:ea typeface="Times New Roman"/>
                <a:cs typeface="Times New Roman"/>
              </a:rPr>
              <a:t>LTLf2DFA / MONA</a:t>
            </a:r>
          </a:p>
        </p:txBody>
      </p:sp>
      <p:sp>
        <p:nvSpPr>
          <p:cNvPr id="10" name="dfa-q0">
            <a:extLst xmlns:a="http://schemas.openxmlformats.org/drawingml/2006/main">
              <a:ext uri="{FF2B5EF4-FFF2-40B4-BE49-F238E27FC236}">
                <a16:creationId xmlns:a16="http://schemas.microsoft.com/office/drawing/2014/main" id="{56114DBE-5A1B-436E-9AAF-756C73F7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047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71717"/>
            </a:solidFill>
            <a:prstDash val="solid"/>
          </a:ln>
        </p:spPr>
      </p:sp>
      <p:sp>
        <p:nvSpPr>
          <p:cNvPr id="11" name="dfa-q0-label">
            <a:extLst xmlns:a="http://schemas.openxmlformats.org/drawingml/2006/main">
              <a:ext uri="{FF2B5EF4-FFF2-40B4-BE49-F238E27FC236}">
                <a16:creationId xmlns:a16="http://schemas.microsoft.com/office/drawing/2014/main" id="{3653918D-4C56-4F86-A802-43D89CFB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2192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 i="1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1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q₀</a:t>
            </a:r>
          </a:p>
        </p:txBody>
      </p:sp>
      <p:sp>
        <p:nvSpPr>
          <p:cNvPr id="12" name="dfa-q1">
            <a:extLst xmlns:a="http://schemas.openxmlformats.org/drawingml/2006/main">
              <a:ext uri="{FF2B5EF4-FFF2-40B4-BE49-F238E27FC236}">
                <a16:creationId xmlns:a16="http://schemas.microsoft.com/office/drawing/2014/main" id="{8072D231-AE06-473E-9C4A-EB30928F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047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71717"/>
            </a:solidFill>
            <a:prstDash val="solid"/>
          </a:ln>
        </p:spPr>
      </p:sp>
      <p:sp>
        <p:nvSpPr>
          <p:cNvPr id="13" name="dfa-q1-label">
            <a:extLst xmlns:a="http://schemas.openxmlformats.org/drawingml/2006/main">
              <a:ext uri="{FF2B5EF4-FFF2-40B4-BE49-F238E27FC236}">
                <a16:creationId xmlns:a16="http://schemas.microsoft.com/office/drawing/2014/main" id="{EAD3A818-EE41-4CE2-A989-FB488662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12192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 i="1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1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q₁</a:t>
            </a:r>
          </a:p>
        </p:txBody>
      </p:sp>
      <p:sp>
        <p:nvSpPr>
          <p:cNvPr id="14" name="dfa-qf">
            <a:extLst xmlns:a="http://schemas.openxmlformats.org/drawingml/2006/main">
              <a:ext uri="{FF2B5EF4-FFF2-40B4-BE49-F238E27FC236}">
                <a16:creationId xmlns:a16="http://schemas.microsoft.com/office/drawing/2014/main" id="{97F7A2F7-4A20-44C3-A46A-49BF55A9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1047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71717"/>
            </a:solidFill>
            <a:prstDash val="solid"/>
          </a:ln>
        </p:spPr>
      </p:sp>
      <p:sp>
        <p:nvSpPr>
          <p:cNvPr id="15" name="dfa-qf-inner-ring">
            <a:extLst xmlns:a="http://schemas.openxmlformats.org/drawingml/2006/main">
              <a:ext uri="{FF2B5EF4-FFF2-40B4-BE49-F238E27FC236}">
                <a16:creationId xmlns:a16="http://schemas.microsoft.com/office/drawing/2014/main" id="{0E771BFE-F79B-44F0-83BE-077A71D6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5425" y="1114425"/>
            <a:ext cx="628650" cy="628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71717"/>
            </a:solidFill>
            <a:prstDash val="solid"/>
          </a:ln>
        </p:spPr>
      </p:sp>
      <p:sp>
        <p:nvSpPr>
          <p:cNvPr id="16" name="dfa-qf-label">
            <a:extLst xmlns:a="http://schemas.openxmlformats.org/drawingml/2006/main">
              <a:ext uri="{FF2B5EF4-FFF2-40B4-BE49-F238E27FC236}">
                <a16:creationId xmlns:a16="http://schemas.microsoft.com/office/drawing/2014/main" id="{2DC1865D-ABFB-4742-AE1A-F4B158ED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12192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 i="1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1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qf</a:t>
            </a:r>
          </a:p>
        </p:txBody>
      </p:sp>
      <p:cxnSp>
        <p:nvCxnSpPr>
          <p:cNvPr id="122" name=""/>
          <p:cNvCxnSpPr>
            <a:stCxn xmlns:a="http://schemas.openxmlformats.org/drawingml/2006/main" id="5" idx="3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9382125" y="1343025"/>
            <a:ext cx="952500" cy="85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3" name="progress-edge-chi1"/>
          <p:cNvCxnSpPr>
            <a:stCxn xmlns:a="http://schemas.openxmlformats.org/drawingml/2006/main" id="10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11096625" y="1428750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4" name="progress-edge-chi2"/>
          <p:cNvCxnSpPr>
            <a:stCxn xmlns:a="http://schemas.openxmlformats.org/drawingml/2006/main" id="12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14192250" y="1428750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25" name=""/>
          <p:cNvCxnSpPr>
            <a:stCxn xmlns:a="http://schemas.openxmlformats.org/drawingml/2006/main" id="12" idx="4"/>
            <a:endCxn xmlns:a="http://schemas.openxmlformats.org/drawingml/2006/main" id="10" idx="4"/>
          </p:cNvCxnSpPr>
          <p:nvPr/>
        </p:nvCxnSpPr>
        <p:spPr>
          <a:xfrm xmlns:a="http://schemas.openxmlformats.org/drawingml/2006/main" flipH="1">
            <a:off x="10715625" y="1809750"/>
            <a:ext cx="3095625" cy="0"/>
          </a:xfrm>
          <a:prstGeom xmlns:a="http://schemas.openxmlformats.org/drawingml/2006/main" prst="curvedConnector2">
            <a:avLst/>
          </a:prstGeom>
          <a:ln xmlns:a="http://schemas.openxmlformats.org/drawingml/2006/main" w="16193">
            <a:solidFill>
              <a:srgbClr val="17171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1" name="dfa-initial-anchor">
            <a:extLst xmlns:a="http://schemas.openxmlformats.org/drawingml/2006/main">
              <a:ext uri="{FF2B5EF4-FFF2-40B4-BE49-F238E27FC236}">
                <a16:creationId xmlns:a16="http://schemas.microsoft.com/office/drawing/2014/main" id="{47977828-2A07-4C45-8E09-B45BD19F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906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7" name=""/>
          <p:cNvCxnSpPr>
            <a:stCxn xmlns:a="http://schemas.openxmlformats.org/drawingml/2006/main" id="21" idx="3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9925050" y="1400175"/>
            <a:ext cx="409575" cy="28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3" name="q0-loop-arc">
            <a:extLst xmlns:a="http://schemas.openxmlformats.org/drawingml/2006/main">
              <a:ext uri="{FF2B5EF4-FFF2-40B4-BE49-F238E27FC236}">
                <a16:creationId xmlns:a16="http://schemas.microsoft.com/office/drawing/2014/main" id="{C7AC3434-EAE7-4CF1-9118-4E6C49A5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3875"/>
            <a:ext cx="666750" cy="666750"/>
          </a:xfrm>
          <a:prstGeom xmlns:a="http://schemas.openxmlformats.org/drawingml/2006/main" prst="arc">
            <a:avLst>
              <a:gd name="adj1" fmla="val 10800000"/>
              <a:gd name="adj2" fmla="val 4320000"/>
            </a:avLst>
          </a:prstGeom>
          <a:noFill xmlns:a="http://schemas.openxmlformats.org/drawingml/2006/main"/>
          <a:ln xmlns:a="http://schemas.openxmlformats.org/drawingml/2006/main" w="16193">
            <a:solidFill>
              <a:srgbClr val="171717"/>
            </a:solidFill>
            <a:prstDash val="dash"/>
          </a:ln>
        </p:spPr>
      </p:sp>
      <p:sp>
        <p:nvSpPr>
          <p:cNvPr id="24" name="q0-loop-arrowhead">
            <a:extLst xmlns:a="http://schemas.openxmlformats.org/drawingml/2006/main">
              <a:ext uri="{FF2B5EF4-FFF2-40B4-BE49-F238E27FC236}">
                <a16:creationId xmlns:a16="http://schemas.microsoft.com/office/drawing/2014/main" id="{B99C8E66-313C-4741-B4F7-5E65E28F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20000">
            <a:off x="10915650" y="981075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4763">
            <a:solidFill>
              <a:srgbClr val="171717"/>
            </a:solidFill>
            <a:prstDash val="solid"/>
          </a:ln>
        </p:spPr>
      </p:sp>
      <p:sp>
        <p:nvSpPr>
          <p:cNvPr id="25" name="q0-loop-loop-label">
            <a:extLst xmlns:a="http://schemas.openxmlformats.org/drawingml/2006/main">
              <a:ext uri="{FF2B5EF4-FFF2-40B4-BE49-F238E27FC236}">
                <a16:creationId xmlns:a16="http://schemas.microsoft.com/office/drawing/2014/main" id="{7489F9D3-3E16-45BD-8554-E0CE64A6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38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¬on(C,D)</a:t>
            </a:r>
          </a:p>
        </p:txBody>
      </p:sp>
      <p:sp>
        <p:nvSpPr>
          <p:cNvPr id="26" name="q1-loop-arc">
            <a:extLst xmlns:a="http://schemas.openxmlformats.org/drawingml/2006/main">
              <a:ext uri="{FF2B5EF4-FFF2-40B4-BE49-F238E27FC236}">
                <a16:creationId xmlns:a16="http://schemas.microsoft.com/office/drawing/2014/main" id="{C11E5862-5C89-4D46-9391-7A1DC6CF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523875"/>
            <a:ext cx="666750" cy="666750"/>
          </a:xfrm>
          <a:prstGeom xmlns:a="http://schemas.openxmlformats.org/drawingml/2006/main" prst="arc">
            <a:avLst>
              <a:gd name="adj1" fmla="val 10800000"/>
              <a:gd name="adj2" fmla="val 4320000"/>
            </a:avLst>
          </a:prstGeom>
          <a:noFill xmlns:a="http://schemas.openxmlformats.org/drawingml/2006/main"/>
          <a:ln xmlns:a="http://schemas.openxmlformats.org/drawingml/2006/main" w="16193">
            <a:solidFill>
              <a:srgbClr val="171717"/>
            </a:solidFill>
            <a:prstDash val="dash"/>
          </a:ln>
        </p:spPr>
      </p:sp>
      <p:sp>
        <p:nvSpPr>
          <p:cNvPr id="27" name="q1-loop-arrowhead">
            <a:extLst xmlns:a="http://schemas.openxmlformats.org/drawingml/2006/main">
              <a:ext uri="{FF2B5EF4-FFF2-40B4-BE49-F238E27FC236}">
                <a16:creationId xmlns:a16="http://schemas.microsoft.com/office/drawing/2014/main" id="{ECED3881-9BE4-43D1-B4F3-3EF62510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20000">
            <a:off x="14011275" y="981075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4763">
            <a:solidFill>
              <a:srgbClr val="171717"/>
            </a:solidFill>
            <a:prstDash val="solid"/>
          </a:ln>
        </p:spPr>
      </p:sp>
      <p:sp>
        <p:nvSpPr>
          <p:cNvPr id="28" name="q1-loop-loop-label">
            <a:extLst xmlns:a="http://schemas.openxmlformats.org/drawingml/2006/main">
              <a:ext uri="{FF2B5EF4-FFF2-40B4-BE49-F238E27FC236}">
                <a16:creationId xmlns:a16="http://schemas.microsoft.com/office/drawing/2014/main" id="{759671C2-807D-4A6C-B1DC-45845855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4572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on(C,D) ∧ ¬(on(B,C) ∧ on(A,B))</a:t>
            </a:r>
          </a:p>
        </p:txBody>
      </p:sp>
      <p:sp>
        <p:nvSpPr>
          <p:cNvPr id="29" name="qf-loop-arc">
            <a:extLst xmlns:a="http://schemas.openxmlformats.org/drawingml/2006/main">
              <a:ext uri="{FF2B5EF4-FFF2-40B4-BE49-F238E27FC236}">
                <a16:creationId xmlns:a16="http://schemas.microsoft.com/office/drawing/2014/main" id="{A6BB873B-5C96-42AE-B9CD-F87A370F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523875"/>
            <a:ext cx="666750" cy="666750"/>
          </a:xfrm>
          <a:prstGeom xmlns:a="http://schemas.openxmlformats.org/drawingml/2006/main" prst="arc">
            <a:avLst>
              <a:gd name="adj1" fmla="val 10800000"/>
              <a:gd name="adj2" fmla="val 4320000"/>
            </a:avLst>
          </a:prstGeom>
          <a:noFill xmlns:a="http://schemas.openxmlformats.org/drawingml/2006/main"/>
          <a:ln xmlns:a="http://schemas.openxmlformats.org/drawingml/2006/main" w="16193">
            <a:solidFill>
              <a:srgbClr val="171717"/>
            </a:solidFill>
            <a:prstDash val="dash"/>
          </a:ln>
        </p:spPr>
      </p:sp>
      <p:sp>
        <p:nvSpPr>
          <p:cNvPr id="30" name="qf-loop-arrowhead">
            <a:extLst xmlns:a="http://schemas.openxmlformats.org/drawingml/2006/main">
              <a:ext uri="{FF2B5EF4-FFF2-40B4-BE49-F238E27FC236}">
                <a16:creationId xmlns:a16="http://schemas.microsoft.com/office/drawing/2014/main" id="{5104B2B6-01CA-4694-98FE-6423C194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20000">
            <a:off x="17249775" y="981075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4763">
            <a:solidFill>
              <a:srgbClr val="171717"/>
            </a:solidFill>
            <a:prstDash val="solid"/>
          </a:ln>
        </p:spPr>
      </p:sp>
      <p:sp>
        <p:nvSpPr>
          <p:cNvPr id="31" name="qf-loop-loop-label">
            <a:extLst xmlns:a="http://schemas.openxmlformats.org/drawingml/2006/main">
              <a:ext uri="{FF2B5EF4-FFF2-40B4-BE49-F238E27FC236}">
                <a16:creationId xmlns:a16="http://schemas.microsoft.com/office/drawing/2014/main" id="{19BDE08B-FD90-4E47-AC99-E2B42F12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5143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true</a:t>
            </a:r>
          </a:p>
        </p:txBody>
      </p:sp>
      <p:sp>
        <p:nvSpPr>
          <p:cNvPr id="32" name="chi1-progress-label">
            <a:extLst xmlns:a="http://schemas.openxmlformats.org/drawingml/2006/main">
              <a:ext uri="{FF2B5EF4-FFF2-40B4-BE49-F238E27FC236}">
                <a16:creationId xmlns:a16="http://schemas.microsoft.com/office/drawing/2014/main" id="{36CC82F7-D497-474F-A6CA-C7E6097C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9715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χ₁ = on(C,D)</a:t>
            </a:r>
          </a:p>
        </p:txBody>
      </p:sp>
      <p:sp>
        <p:nvSpPr>
          <p:cNvPr id="33" name="chi2-progress-label">
            <a:extLst xmlns:a="http://schemas.openxmlformats.org/drawingml/2006/main">
              <a:ext uri="{FF2B5EF4-FFF2-40B4-BE49-F238E27FC236}">
                <a16:creationId xmlns:a16="http://schemas.microsoft.com/office/drawing/2014/main" id="{D4510561-BC28-4E77-8A2F-A87B7DD5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9620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χ₂ = on(B,C) ∧ on(A,B)</a:t>
            </a:r>
          </a:p>
        </p:txBody>
      </p:sp>
      <p:sp>
        <p:nvSpPr>
          <p:cNvPr id="34" name="return-edge-label">
            <a:extLst xmlns:a="http://schemas.openxmlformats.org/drawingml/2006/main">
              <a:ext uri="{FF2B5EF4-FFF2-40B4-BE49-F238E27FC236}">
                <a16:creationId xmlns:a16="http://schemas.microsoft.com/office/drawing/2014/main" id="{006A5C5F-0FA2-4FD2-8222-6E0D5BD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526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¬on(C,D) ∧ ¬(on(B,C) ∧ on(A,B))</a:t>
            </a:r>
          </a:p>
        </p:txBody>
      </p:sp>
      <p:sp>
        <p:nvSpPr>
          <p:cNvPr id="35" name="progress-edge-compilation-title">
            <a:extLst xmlns:a="http://schemas.openxmlformats.org/drawingml/2006/main">
              <a:ext uri="{FF2B5EF4-FFF2-40B4-BE49-F238E27FC236}">
                <a16:creationId xmlns:a16="http://schemas.microsoft.com/office/drawing/2014/main" id="{48C8DE33-043C-43ED-A971-ADB815BC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00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Progress-edge compilation: CertifySerialization</a:t>
            </a:r>
          </a:p>
        </p:txBody>
      </p:sp>
      <p:sp>
        <p:nvSpPr>
          <p:cNvPr id="36" name="certification-chain">
            <a:extLst xmlns:a="http://schemas.openxmlformats.org/drawingml/2006/main">
              <a:ext uri="{FF2B5EF4-FFF2-40B4-BE49-F238E27FC236}">
                <a16:creationId xmlns:a16="http://schemas.microsoft.com/office/drawing/2014/main" id="{F67C8C0D-B6F9-4200-8949-95AE42E6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D7D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D7D46"/>
                </a:solidFill>
                <a:latin typeface="Times New Roman"/>
                <a:ea typeface="Times New Roman"/>
                <a:cs typeface="Times New Roman"/>
              </a:rPr>
              <a:t>completion summaries  →  preservation portfolios  →  threat-induced precedence  →  certified serialization</a:t>
            </a:r>
          </a:p>
        </p:txBody>
      </p:sp>
      <p:sp>
        <p:nvSpPr>
          <p:cNvPr id="37" name="summary-bus-label">
            <a:extLst xmlns:a="http://schemas.openxmlformats.org/drawingml/2006/main">
              <a:ext uri="{FF2B5EF4-FFF2-40B4-BE49-F238E27FC236}">
                <a16:creationId xmlns:a16="http://schemas.microsoft.com/office/drawing/2014/main" id="{C3DD2836-F095-4960-BAE6-FD1785F6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575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D7D4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2D7D46"/>
                </a:solidFill>
                <a:latin typeface="Cambria Math"/>
                <a:ea typeface="Cambria Math"/>
                <a:cs typeface="Cambria Math"/>
              </a:rPr>
              <a:t>conditional completion summaries  {Σb | b ∈ MD}</a:t>
            </a:r>
          </a:p>
        </p:txBody>
      </p:sp>
      <p:sp>
        <p:nvSpPr>
          <p:cNvPr id="38" name="certify-serialization-chi1">
            <a:extLst xmlns:a="http://schemas.openxmlformats.org/drawingml/2006/main">
              <a:ext uri="{FF2B5EF4-FFF2-40B4-BE49-F238E27FC236}">
                <a16:creationId xmlns:a16="http://schemas.microsoft.com/office/drawing/2014/main" id="{D7396010-6E50-42CD-ABEF-C8F92EB8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76625"/>
            <a:ext cx="49530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7EA"/>
          </a:solidFill>
          <a:ln xmlns:a="http://schemas.openxmlformats.org/drawingml/2006/main" w="19050">
            <a:solidFill>
              <a:srgbClr val="2D7D46"/>
            </a:solidFill>
            <a:prstDash val="solid"/>
          </a:ln>
        </p:spPr>
      </p:sp>
      <p:sp>
        <p:nvSpPr>
          <p:cNvPr id="39" name="cert1-title">
            <a:extLst xmlns:a="http://schemas.openxmlformats.org/drawingml/2006/main">
              <a:ext uri="{FF2B5EF4-FFF2-40B4-BE49-F238E27FC236}">
                <a16:creationId xmlns:a16="http://schemas.microsoft.com/office/drawing/2014/main" id="{15445C58-AC2F-4FCC-AE41-5A1844A3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CertifySerialization(χ₁)</a:t>
            </a:r>
          </a:p>
        </p:txBody>
      </p:sp>
      <p:sp>
        <p:nvSpPr>
          <p:cNvPr id="40" name="cert1-equation">
            <a:extLst xmlns:a="http://schemas.openxmlformats.org/drawingml/2006/main">
              <a:ext uri="{FF2B5EF4-FFF2-40B4-BE49-F238E27FC236}">
                <a16:creationId xmlns:a16="http://schemas.microsoft.com/office/drawing/2014/main" id="{BA1C87CA-FFBF-4C3A-8D54-C7E41C5E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Oχ₁ + {Σb | b ∈ MD}  →  (ℓχ₁, Πχ₁)  ✓</a:t>
            </a:r>
          </a:p>
        </p:txBody>
      </p:sp>
      <p:sp>
        <p:nvSpPr>
          <p:cNvPr id="41" name="cert1-definitions">
            <a:extLst xmlns:a="http://schemas.openxmlformats.org/drawingml/2006/main">
              <a:ext uri="{FF2B5EF4-FFF2-40B4-BE49-F238E27FC236}">
                <a16:creationId xmlns:a16="http://schemas.microsoft.com/office/drawing/2014/main" id="{5992A5F5-4830-496F-BAA1-9F603239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ℓχ₁  certified serialization</a:t>
            </a:r>
          </a:p>
          <a:p xmlns:a="http://schemas.openxmlformats.org/drawingml/2006/main">
            <a:pPr algn="l">
              <a:defRPr sz="13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Πχ₁  preservation portfolio</a:t>
            </a:r>
          </a:p>
        </p:txBody>
      </p:sp>
      <p:sp>
        <p:nvSpPr>
          <p:cNvPr id="42" name="top-level-dispatcher">
            <a:extLst xmlns:a="http://schemas.openxmlformats.org/drawingml/2006/main">
              <a:ext uri="{FF2B5EF4-FFF2-40B4-BE49-F238E27FC236}">
                <a16:creationId xmlns:a16="http://schemas.microsoft.com/office/drawing/2014/main" id="{1E95FFD6-BD5F-4579-8792-1F31C956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953000" cy="1676400"/>
          </a:xfrm>
          <a:prstGeom xmlns:a="http://schemas.openxmlformats.org/drawingml/2006/main" prst="roundRect">
            <a:avLst>
              <a:gd name="adj" fmla="val 8523"/>
            </a:avLst>
          </a:prstGeom>
          <a:solidFill xmlns:a="http://schemas.openxmlformats.org/drawingml/2006/main">
            <a:srgbClr val="F7F1FC"/>
          </a:solidFill>
          <a:ln xmlns:a="http://schemas.openxmlformats.org/drawingml/2006/main" w="19050">
            <a:solidFill>
              <a:srgbClr val="7447B5"/>
            </a:solidFill>
            <a:prstDash val="solid"/>
          </a:ln>
        </p:spPr>
      </p:sp>
      <p:sp>
        <p:nvSpPr>
          <p:cNvPr id="43" name="dispatcher-title">
            <a:extLst xmlns:a="http://schemas.openxmlformats.org/drawingml/2006/main">
              <a:ext uri="{FF2B5EF4-FFF2-40B4-BE49-F238E27FC236}">
                <a16:creationId xmlns:a16="http://schemas.microsoft.com/office/drawing/2014/main" id="{F840C2CD-0D12-41CF-8B72-61777049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337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Top-level DFA dispatcher</a:t>
            </a:r>
          </a:p>
        </p:txBody>
      </p:sp>
      <p:sp>
        <p:nvSpPr>
          <p:cNvPr id="44" name="dispatcher-subtitle">
            <a:extLst xmlns:a="http://schemas.openxmlformats.org/drawingml/2006/main">
              <a:ext uri="{FF2B5EF4-FFF2-40B4-BE49-F238E27FC236}">
                <a16:creationId xmlns:a16="http://schemas.microsoft.com/office/drawing/2014/main" id="{080DA603-D04C-459D-94AE-D88B0259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576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7447B5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7447B5"/>
                </a:solidFill>
                <a:latin typeface="Cambria Math"/>
                <a:ea typeface="Cambria Math"/>
                <a:cs typeface="Cambria Math"/>
              </a:rPr>
              <a:t>current DFA state  z ∈ Qqᵈᶠᵃ</a:t>
            </a:r>
          </a:p>
        </p:txBody>
      </p:sp>
      <p:sp>
        <p:nvSpPr>
          <p:cNvPr id="45" name="dispatcher-table">
            <a:extLst xmlns:a="http://schemas.openxmlformats.org/drawingml/2006/main">
              <a:ext uri="{FF2B5EF4-FFF2-40B4-BE49-F238E27FC236}">
                <a16:creationId xmlns:a16="http://schemas.microsoft.com/office/drawing/2014/main" id="{173551CF-5AE8-4FC1-A756-AE956971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71950"/>
            <a:ext cx="390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1717"/>
            </a:solidFill>
            <a:prstDash val="solid"/>
          </a:ln>
        </p:spPr>
      </p:sp>
      <p:sp>
        <p:nvSpPr>
          <p:cNvPr id="46" name="dispatcher-row-466">
            <a:extLst xmlns:a="http://schemas.openxmlformats.org/drawingml/2006/main">
              <a:ext uri="{FF2B5EF4-FFF2-40B4-BE49-F238E27FC236}">
                <a16:creationId xmlns:a16="http://schemas.microsoft.com/office/drawing/2014/main" id="{658D0218-07BA-4CD7-8592-B722C74F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386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47" name="dispatcher-row-494">
            <a:extLst xmlns:a="http://schemas.openxmlformats.org/drawingml/2006/main">
              <a:ext uri="{FF2B5EF4-FFF2-40B4-BE49-F238E27FC236}">
                <a16:creationId xmlns:a16="http://schemas.microsoft.com/office/drawing/2014/main" id="{C2C285E6-ECD1-415C-A4E7-D025954C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053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48" name="dispatcher-column-divider">
            <a:extLst xmlns:a="http://schemas.openxmlformats.org/drawingml/2006/main">
              <a:ext uri="{FF2B5EF4-FFF2-40B4-BE49-F238E27FC236}">
                <a16:creationId xmlns:a16="http://schemas.microsoft.com/office/drawing/2014/main" id="{4059C9C2-E92A-430E-8FBE-BD853296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71950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49" name="dispatcher-state-0">
            <a:extLst xmlns:a="http://schemas.openxmlformats.org/drawingml/2006/main">
              <a:ext uri="{FF2B5EF4-FFF2-40B4-BE49-F238E27FC236}">
                <a16:creationId xmlns:a16="http://schemas.microsoft.com/office/drawing/2014/main" id="{2CD36069-24BA-465D-88FA-27A745FE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814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z = qf</a:t>
            </a:r>
          </a:p>
        </p:txBody>
      </p:sp>
      <p:sp>
        <p:nvSpPr>
          <p:cNvPr id="50" name="dispatcher-action-0">
            <a:extLst xmlns:a="http://schemas.openxmlformats.org/drawingml/2006/main">
              <a:ext uri="{FF2B5EF4-FFF2-40B4-BE49-F238E27FC236}">
                <a16:creationId xmlns:a16="http://schemas.microsoft.com/office/drawing/2014/main" id="{B7DC2254-1832-4781-8FF4-59C2070E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81475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return success</a:t>
            </a:r>
          </a:p>
        </p:txBody>
      </p:sp>
      <p:sp>
        <p:nvSpPr>
          <p:cNvPr id="51" name="dispatcher-state-1">
            <a:extLst xmlns:a="http://schemas.openxmlformats.org/drawingml/2006/main">
              <a:ext uri="{FF2B5EF4-FFF2-40B4-BE49-F238E27FC236}">
                <a16:creationId xmlns:a16="http://schemas.microsoft.com/office/drawing/2014/main" id="{F60EBE8D-2998-40D0-97AC-8F7C78E1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481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z = q₀</a:t>
            </a:r>
          </a:p>
        </p:txBody>
      </p:sp>
      <p:sp>
        <p:nvSpPr>
          <p:cNvPr id="52" name="dispatcher-action-1">
            <a:extLst xmlns:a="http://schemas.openxmlformats.org/drawingml/2006/main">
              <a:ext uri="{FF2B5EF4-FFF2-40B4-BE49-F238E27FC236}">
                <a16:creationId xmlns:a16="http://schemas.microsoft.com/office/drawing/2014/main" id="{4BE620B9-351C-4A34-8279-01DC286F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48175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call  Rq₀,χ₁</a:t>
            </a:r>
          </a:p>
        </p:txBody>
      </p:sp>
      <p:sp>
        <p:nvSpPr>
          <p:cNvPr id="53" name="dispatcher-state-2">
            <a:extLst xmlns:a="http://schemas.openxmlformats.org/drawingml/2006/main">
              <a:ext uri="{FF2B5EF4-FFF2-40B4-BE49-F238E27FC236}">
                <a16:creationId xmlns:a16="http://schemas.microsoft.com/office/drawing/2014/main" id="{5C21915D-8112-4894-957F-B2F2F219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z = q₁</a:t>
            </a:r>
          </a:p>
        </p:txBody>
      </p:sp>
      <p:sp>
        <p:nvSpPr>
          <p:cNvPr id="54" name="dispatcher-action-2">
            <a:extLst xmlns:a="http://schemas.openxmlformats.org/drawingml/2006/main">
              <a:ext uri="{FF2B5EF4-FFF2-40B4-BE49-F238E27FC236}">
                <a16:creationId xmlns:a16="http://schemas.microsoft.com/office/drawing/2014/main" id="{B32ED4D7-BE63-4178-9DAF-232A26F7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14875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call  Rq₁,χ₂</a:t>
            </a:r>
          </a:p>
        </p:txBody>
      </p:sp>
      <p:sp>
        <p:nvSpPr>
          <p:cNvPr id="55" name="certify-serialization-chi2">
            <a:extLst xmlns:a="http://schemas.openxmlformats.org/drawingml/2006/main">
              <a:ext uri="{FF2B5EF4-FFF2-40B4-BE49-F238E27FC236}">
                <a16:creationId xmlns:a16="http://schemas.microsoft.com/office/drawing/2014/main" id="{81CC42A0-CA70-479C-8858-501EB17E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476625"/>
            <a:ext cx="49530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7EA"/>
          </a:solidFill>
          <a:ln xmlns:a="http://schemas.openxmlformats.org/drawingml/2006/main" w="19050">
            <a:solidFill>
              <a:srgbClr val="2D7D46"/>
            </a:solidFill>
            <a:prstDash val="solid"/>
          </a:ln>
        </p:spPr>
      </p:sp>
      <p:sp>
        <p:nvSpPr>
          <p:cNvPr id="56" name="cert2-title">
            <a:extLst xmlns:a="http://schemas.openxmlformats.org/drawingml/2006/main">
              <a:ext uri="{FF2B5EF4-FFF2-40B4-BE49-F238E27FC236}">
                <a16:creationId xmlns:a16="http://schemas.microsoft.com/office/drawing/2014/main" id="{42781D7C-7FA7-4438-9C7E-C5E15213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600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CertifySerialization(χ₂)</a:t>
            </a:r>
          </a:p>
        </p:txBody>
      </p:sp>
      <p:sp>
        <p:nvSpPr>
          <p:cNvPr id="57" name="cert2-equation">
            <a:extLst xmlns:a="http://schemas.openxmlformats.org/drawingml/2006/main">
              <a:ext uri="{FF2B5EF4-FFF2-40B4-BE49-F238E27FC236}">
                <a16:creationId xmlns:a16="http://schemas.microsoft.com/office/drawing/2014/main" id="{2EF44825-3C3D-4873-AFA8-C1282EF4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943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Oχ₂ + {Σb | b ∈ MD}  →  (ℓχ₂, Πχ₂)  ✓</a:t>
            </a:r>
          </a:p>
        </p:txBody>
      </p:sp>
      <p:sp>
        <p:nvSpPr>
          <p:cNvPr id="58" name="cert2-definitions">
            <a:extLst xmlns:a="http://schemas.openxmlformats.org/drawingml/2006/main">
              <a:ext uri="{FF2B5EF4-FFF2-40B4-BE49-F238E27FC236}">
                <a16:creationId xmlns:a16="http://schemas.microsoft.com/office/drawing/2014/main" id="{A6B87B0A-627C-4A6F-BEBA-31AFCF6F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28625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Gχ₂  threat-induced precedence</a:t>
            </a:r>
          </a:p>
          <a:p xmlns:a="http://schemas.openxmlformats.org/drawingml/2006/main">
            <a:pPr algn="l">
              <a:def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ℓχ₂  certified serialization</a:t>
            </a:r>
          </a:p>
          <a:p xmlns:a="http://schemas.openxmlformats.org/drawingml/2006/main">
            <a:pPr algn="l">
              <a:def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Πχ₂  preservation portfolios</a:t>
            </a:r>
          </a:p>
        </p:txBody>
      </p:sp>
      <p:cxnSp>
        <p:nvCxnSpPr>
          <p:cNvPr id="164" name=""/>
          <p:cNvCxnSpPr>
            <a:stCxn xmlns:a="http://schemas.openxmlformats.org/drawingml/2006/main" id="32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 flipH="1">
            <a:off x="2905125" y="1276350"/>
            <a:ext cx="9391650" cy="22002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171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165" name=""/>
          <p:cNvCxnSpPr>
            <a:stCxn xmlns:a="http://schemas.openxmlformats.org/drawingml/2006/main" id="33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 flipH="1">
            <a:off x="15382875" y="1285875"/>
            <a:ext cx="342900" cy="2190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171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166" name=""/>
          <p:cNvCxnSpPr>
            <a:stCxn xmlns:a="http://schemas.openxmlformats.org/drawingml/2006/main" id="12" idx="4"/>
            <a:endCxn xmlns:a="http://schemas.openxmlformats.org/drawingml/2006/main" id="42" idx="0"/>
          </p:cNvCxnSpPr>
          <p:nvPr/>
        </p:nvCxnSpPr>
        <p:spPr>
          <a:xfrm xmlns:a="http://schemas.openxmlformats.org/drawingml/2006/main" flipH="1">
            <a:off x="9144000" y="1809750"/>
            <a:ext cx="466725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1717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62" name="dfa-to-dispatcher-label">
            <a:extLst xmlns:a="http://schemas.openxmlformats.org/drawingml/2006/main">
              <a:ext uri="{FF2B5EF4-FFF2-40B4-BE49-F238E27FC236}">
                <a16:creationId xmlns:a16="http://schemas.microsoft.com/office/drawing/2014/main" id="{B30BB680-AFDB-4B89-A8AD-AD3C9CFA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956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4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B6470"/>
                </a:solidFill>
                <a:latin typeface="Times New Roman"/>
                <a:ea typeface="Times New Roman"/>
                <a:cs typeface="Times New Roman"/>
              </a:rPr>
              <a:t>DFA states and progress-edge map</a:t>
            </a:r>
          </a:p>
        </p:txBody>
      </p:sp>
      <p:cxnSp>
        <p:nvCxnSpPr>
          <p:cNvPr id="168" name="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2581275" y="3419475"/>
            <a:ext cx="3238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D7D46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169" name=""/>
          <p:cNvCxnSpPr>
            <a:stCxn xmlns:a="http://schemas.openxmlformats.org/drawingml/2006/main" id="37" idx="3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4629150" y="3238500"/>
            <a:ext cx="10753725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D7D46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65" name="controller-for-q0-chi1">
            <a:extLst xmlns:a="http://schemas.openxmlformats.org/drawingml/2006/main">
              <a:ext uri="{FF2B5EF4-FFF2-40B4-BE49-F238E27FC236}">
                <a16:creationId xmlns:a16="http://schemas.microsoft.com/office/drawing/2014/main" id="{7A6F5023-8CF9-4CCF-9B2C-28E0EA18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381625"/>
            <a:ext cx="561975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1FC"/>
          </a:solidFill>
          <a:ln xmlns:a="http://schemas.openxmlformats.org/drawingml/2006/main" w="19050">
            <a:solidFill>
              <a:srgbClr val="7447B5"/>
            </a:solidFill>
            <a:prstDash val="solid"/>
          </a:ln>
        </p:spPr>
      </p:sp>
      <p:sp>
        <p:nvSpPr>
          <p:cNvPr id="66" name="singleton-controller-title">
            <a:extLst xmlns:a="http://schemas.openxmlformats.org/drawingml/2006/main">
              <a:ext uri="{FF2B5EF4-FFF2-40B4-BE49-F238E27FC236}">
                <a16:creationId xmlns:a16="http://schemas.microsoft.com/office/drawing/2014/main" id="{0F9F94CB-BAA0-4C0B-96A4-BE3DAE6D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054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Singleton progress edge</a:t>
            </a:r>
          </a:p>
        </p:txBody>
      </p:sp>
      <p:sp>
        <p:nvSpPr>
          <p:cNvPr id="67" name="singleton-order">
            <a:extLst xmlns:a="http://schemas.openxmlformats.org/drawingml/2006/main">
              <a:ext uri="{FF2B5EF4-FFF2-40B4-BE49-F238E27FC236}">
                <a16:creationId xmlns:a16="http://schemas.microsoft.com/office/drawing/2014/main" id="{E10298C6-B968-48CD-A1A0-320A6BC5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ℓχ₁ = ⟨on(C,D)⟩</a:t>
            </a:r>
          </a:p>
        </p:txBody>
      </p:sp>
      <p:sp>
        <p:nvSpPr>
          <p:cNvPr id="68" name="singleton-leaf-box">
            <a:extLst xmlns:a="http://schemas.openxmlformats.org/drawingml/2006/main">
              <a:ext uri="{FF2B5EF4-FFF2-40B4-BE49-F238E27FC236}">
                <a16:creationId xmlns:a16="http://schemas.microsoft.com/office/drawing/2014/main" id="{97133879-58FD-4A90-B139-3E191B08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381750"/>
            <a:ext cx="4286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3FC"/>
          </a:solidFill>
          <a:ln xmlns:a="http://schemas.openxmlformats.org/drawingml/2006/main" w="17145">
            <a:solidFill>
              <a:srgbClr val="2E72B8"/>
            </a:solidFill>
            <a:prstDash val="solid"/>
          </a:ln>
        </p:spPr>
      </p:sp>
      <p:sp>
        <p:nvSpPr>
          <p:cNvPr id="69" name="singleton-leaf-text">
            <a:extLst xmlns:a="http://schemas.openxmlformats.org/drawingml/2006/main">
              <a:ext uri="{FF2B5EF4-FFF2-40B4-BE49-F238E27FC236}">
                <a16:creationId xmlns:a16="http://schemas.microsoft.com/office/drawing/2014/main" id="{D29EC681-597B-4E00-8853-B7D2D258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6429375"/>
            <a:ext cx="4133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Repair Rχ₁[1,1]</a:t>
            </a:r>
          </a:p>
          <a:p xmlns:a="http://schemas.openxmlformats.org/drawingml/2006/main">
            <a:pPr algn="ctr">
              <a:defRPr sz="142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observe / !on(C,D)</a:t>
            </a:r>
          </a:p>
        </p:txBody>
      </p:sp>
      <p:sp>
        <p:nvSpPr>
          <p:cNvPr id="70" name="singleton-done-box">
            <a:extLst xmlns:a="http://schemas.openxmlformats.org/drawingml/2006/main">
              <a:ext uri="{FF2B5EF4-FFF2-40B4-BE49-F238E27FC236}">
                <a16:creationId xmlns:a16="http://schemas.microsoft.com/office/drawing/2014/main" id="{0A922C57-C83A-4FA1-92C1-71B6FAD5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477125"/>
            <a:ext cx="4286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CECFB"/>
          </a:solidFill>
          <a:ln xmlns:a="http://schemas.openxmlformats.org/drawingml/2006/main" w="17145">
            <a:solidFill>
              <a:srgbClr val="2E72B8"/>
            </a:solidFill>
            <a:prstDash val="solid"/>
          </a:ln>
        </p:spPr>
      </p:sp>
      <p:sp>
        <p:nvSpPr>
          <p:cNvPr id="71" name="singleton-done-text">
            <a:extLst xmlns:a="http://schemas.openxmlformats.org/drawingml/2006/main">
              <a:ext uri="{FF2B5EF4-FFF2-40B4-BE49-F238E27FC236}">
                <a16:creationId xmlns:a16="http://schemas.microsoft.com/office/drawing/2014/main" id="{46FD398F-B13B-4B90-BF59-DCC5B7D9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7524750"/>
            <a:ext cx="4133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Completion test</a:t>
            </a:r>
          </a:p>
          <a:p xmlns:a="http://schemas.openxmlformats.org/drawingml/2006/main">
            <a:pPr algn="ctr">
              <a:defRPr sz="13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monitor ≠ q₀: return</a:t>
            </a:r>
          </a:p>
          <a:p xmlns:a="http://schemas.openxmlformats.org/drawingml/2006/main">
            <a:pPr algn="ctr">
              <a:defRPr sz="13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monitor = q₀: replay</a:t>
            </a:r>
          </a:p>
        </p:txBody>
      </p:sp>
      <p:cxnSp>
        <p:nvCxnSpPr>
          <p:cNvPr id="177" name=""/>
          <p:cNvCxnSpPr>
            <a:stCxn xmlns:a="http://schemas.openxmlformats.org/drawingml/2006/main" id="68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3238500" y="718185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E72B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73" name="singleton-output">
            <a:extLst xmlns:a="http://schemas.openxmlformats.org/drawingml/2006/main">
              <a:ext uri="{FF2B5EF4-FFF2-40B4-BE49-F238E27FC236}">
                <a16:creationId xmlns:a16="http://schemas.microsoft.com/office/drawing/2014/main" id="{16B7F548-C179-41B3-B256-ED362377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4867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7447B5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 i="0">
                <a:solidFill>
                  <a:srgbClr val="7447B5"/>
                </a:solidFill>
                <a:latin typeface="Cambria Math"/>
                <a:ea typeface="Cambria Math"/>
                <a:cs typeface="Cambria Math"/>
              </a:rPr>
              <a:t>Rq₀,χ₁</a:t>
            </a:r>
          </a:p>
        </p:txBody>
      </p:sp>
      <p:sp>
        <p:nvSpPr>
          <p:cNvPr id="74" name="controller-for-q1-chi2">
            <a:extLst xmlns:a="http://schemas.openxmlformats.org/drawingml/2006/main">
              <a:ext uri="{FF2B5EF4-FFF2-40B4-BE49-F238E27FC236}">
                <a16:creationId xmlns:a16="http://schemas.microsoft.com/office/drawing/2014/main" id="{9E7E88CB-09A6-4DD6-BA64-52DB9107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381625"/>
            <a:ext cx="561975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1FC"/>
          </a:solidFill>
          <a:ln xmlns:a="http://schemas.openxmlformats.org/drawingml/2006/main" w="19050">
            <a:solidFill>
              <a:srgbClr val="7447B5"/>
            </a:solidFill>
            <a:prstDash val="solid"/>
          </a:ln>
        </p:spPr>
      </p:sp>
      <p:sp>
        <p:nvSpPr>
          <p:cNvPr id="75" name="conjunctive-controller-title">
            <a:extLst xmlns:a="http://schemas.openxmlformats.org/drawingml/2006/main">
              <a:ext uri="{FF2B5EF4-FFF2-40B4-BE49-F238E27FC236}">
                <a16:creationId xmlns:a16="http://schemas.microsoft.com/office/drawing/2014/main" id="{B0156584-7778-4FAA-9B78-BF066472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55054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Conjunctive progress edge</a:t>
            </a:r>
          </a:p>
        </p:txBody>
      </p:sp>
      <p:sp>
        <p:nvSpPr>
          <p:cNvPr id="76" name="conjunctive-order">
            <a:extLst xmlns:a="http://schemas.openxmlformats.org/drawingml/2006/main">
              <a:ext uri="{FF2B5EF4-FFF2-40B4-BE49-F238E27FC236}">
                <a16:creationId xmlns:a16="http://schemas.microsoft.com/office/drawing/2014/main" id="{7652E985-2768-42D7-B5F3-A442220D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58102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Gχ₂: on(B,C) ≺χ₂ on(A,B)</a:t>
            </a:r>
          </a:p>
          <a:p xmlns:a="http://schemas.openxmlformats.org/drawingml/2006/main">
            <a:pPr algn="ctr">
              <a:defRPr sz="142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ℓχ₂ = ⟨on(B,C), on(A,B)⟩</a:t>
            </a:r>
          </a:p>
        </p:txBody>
      </p:sp>
      <p:sp>
        <p:nvSpPr>
          <p:cNvPr id="77" name="balanced-repair-tree">
            <a:extLst xmlns:a="http://schemas.openxmlformats.org/drawingml/2006/main">
              <a:ext uri="{FF2B5EF4-FFF2-40B4-BE49-F238E27FC236}">
                <a16:creationId xmlns:a16="http://schemas.microsoft.com/office/drawing/2014/main" id="{6DDCB4D2-A41D-4B03-AC8F-968D4F34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477000"/>
            <a:ext cx="4762500" cy="1085850"/>
          </a:xfrm>
          <a:prstGeom xmlns:a="http://schemas.openxmlformats.org/drawingml/2006/main" prst="roundRect">
            <a:avLst>
              <a:gd name="adj" fmla="val 8772"/>
            </a:avLst>
          </a:prstGeom>
          <a:solidFill xmlns:a="http://schemas.openxmlformats.org/drawingml/2006/main">
            <a:srgbClr val="EAF3FC"/>
          </a:solidFill>
          <a:ln xmlns:a="http://schemas.openxmlformats.org/drawingml/2006/main" w="14288">
            <a:solidFill>
              <a:srgbClr val="2E72B8"/>
            </a:solidFill>
            <a:prstDash val="solid"/>
          </a:ln>
        </p:spPr>
      </p:sp>
      <p:sp>
        <p:nvSpPr>
          <p:cNvPr id="78" name="balanced-tree-title">
            <a:extLst xmlns:a="http://schemas.openxmlformats.org/drawingml/2006/main">
              <a:ext uri="{FF2B5EF4-FFF2-40B4-BE49-F238E27FC236}">
                <a16:creationId xmlns:a16="http://schemas.microsoft.com/office/drawing/2014/main" id="{26C8CDFD-3980-4F86-9112-855D0192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65246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Balanced realization</a:t>
            </a:r>
          </a:p>
        </p:txBody>
      </p:sp>
      <p:sp>
        <p:nvSpPr>
          <p:cNvPr id="79" name="tree-root-box">
            <a:extLst xmlns:a="http://schemas.openxmlformats.org/drawingml/2006/main">
              <a:ext uri="{FF2B5EF4-FFF2-40B4-BE49-F238E27FC236}">
                <a16:creationId xmlns:a16="http://schemas.microsoft.com/office/drawing/2014/main" id="{3E900CAA-9BC5-4D51-A68D-2AFC1A07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829425"/>
            <a:ext cx="1333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E72B8"/>
            </a:solidFill>
            <a:prstDash val="solid"/>
          </a:ln>
        </p:spPr>
      </p:sp>
      <p:sp>
        <p:nvSpPr>
          <p:cNvPr id="80" name="tree-root-text">
            <a:extLst xmlns:a="http://schemas.openxmlformats.org/drawingml/2006/main">
              <a:ext uri="{FF2B5EF4-FFF2-40B4-BE49-F238E27FC236}">
                <a16:creationId xmlns:a16="http://schemas.microsoft.com/office/drawing/2014/main" id="{3AE76765-ED66-4DB0-8F10-576FEAC1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68770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Rχ₂[1,2]</a:t>
            </a:r>
          </a:p>
        </p:txBody>
      </p:sp>
      <p:sp>
        <p:nvSpPr>
          <p:cNvPr id="81" name="tree-left-box">
            <a:extLst xmlns:a="http://schemas.openxmlformats.org/drawingml/2006/main">
              <a:ext uri="{FF2B5EF4-FFF2-40B4-BE49-F238E27FC236}">
                <a16:creationId xmlns:a16="http://schemas.microsoft.com/office/drawing/2014/main" id="{3C32790B-D871-427E-8807-E70C2E41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219950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2B8"/>
            </a:solidFill>
            <a:prstDash val="solid"/>
          </a:ln>
        </p:spPr>
      </p:sp>
      <p:sp>
        <p:nvSpPr>
          <p:cNvPr id="82" name="tree-left-text">
            <a:extLst xmlns:a="http://schemas.openxmlformats.org/drawingml/2006/main">
              <a:ext uri="{FF2B5EF4-FFF2-40B4-BE49-F238E27FC236}">
                <a16:creationId xmlns:a16="http://schemas.microsoft.com/office/drawing/2014/main" id="{348ECBFC-03E9-4B0D-BC16-D98422ED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726757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Rχ₂[1,1]</a:t>
            </a:r>
          </a:p>
        </p:txBody>
      </p:sp>
      <p:sp>
        <p:nvSpPr>
          <p:cNvPr id="83" name="tree-right-box">
            <a:extLst xmlns:a="http://schemas.openxmlformats.org/drawingml/2006/main">
              <a:ext uri="{FF2B5EF4-FFF2-40B4-BE49-F238E27FC236}">
                <a16:creationId xmlns:a16="http://schemas.microsoft.com/office/drawing/2014/main" id="{A712E0CF-FADB-4A49-B3CD-F25B251B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7219950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2B8"/>
            </a:solidFill>
            <a:prstDash val="solid"/>
          </a:ln>
        </p:spPr>
      </p:sp>
      <p:sp>
        <p:nvSpPr>
          <p:cNvPr id="84" name="tree-right-text">
            <a:extLst xmlns:a="http://schemas.openxmlformats.org/drawingml/2006/main">
              <a:ext uri="{FF2B5EF4-FFF2-40B4-BE49-F238E27FC236}">
                <a16:creationId xmlns:a16="http://schemas.microsoft.com/office/drawing/2014/main" id="{1DF7C262-67C7-4C26-B5F2-A2000345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726757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Rχ₂[2,2]</a:t>
            </a:r>
          </a:p>
        </p:txBody>
      </p:sp>
      <p:cxnSp>
        <p:nvCxnSpPr>
          <p:cNvPr id="190" name=""/>
          <p:cNvCxnSpPr>
            <a:stCxn xmlns:a="http://schemas.openxmlformats.org/drawingml/2006/main" id="79" idx="2"/>
            <a:endCxn xmlns:a="http://schemas.openxmlformats.org/drawingml/2006/main" id="81" idx="0"/>
          </p:cNvCxnSpPr>
          <p:nvPr/>
        </p:nvCxnSpPr>
        <p:spPr>
          <a:xfrm xmlns:a="http://schemas.openxmlformats.org/drawingml/2006/main" flipH="1">
            <a:off x="13858875" y="7153275"/>
            <a:ext cx="1190625" cy="666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E72B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91" name=""/>
          <p:cNvCxnSpPr>
            <a:stCxn xmlns:a="http://schemas.openxmlformats.org/drawingml/2006/main" id="79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15049500" y="7153275"/>
            <a:ext cx="1190625" cy="666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E72B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87" name="conjunctive-done-box">
            <a:extLst xmlns:a="http://schemas.openxmlformats.org/drawingml/2006/main">
              <a:ext uri="{FF2B5EF4-FFF2-40B4-BE49-F238E27FC236}">
                <a16:creationId xmlns:a16="http://schemas.microsoft.com/office/drawing/2014/main" id="{B3A4E23B-AE72-4F6D-B9F7-C13059A7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7762875"/>
            <a:ext cx="4286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CECFB"/>
          </a:solidFill>
          <a:ln xmlns:a="http://schemas.openxmlformats.org/drawingml/2006/main" w="17145">
            <a:solidFill>
              <a:srgbClr val="2E72B8"/>
            </a:solidFill>
            <a:prstDash val="solid"/>
          </a:ln>
        </p:spPr>
      </p:sp>
      <p:sp>
        <p:nvSpPr>
          <p:cNvPr id="88" name="conjunctive-done-text">
            <a:extLst xmlns:a="http://schemas.openxmlformats.org/drawingml/2006/main">
              <a:ext uri="{FF2B5EF4-FFF2-40B4-BE49-F238E27FC236}">
                <a16:creationId xmlns:a16="http://schemas.microsoft.com/office/drawing/2014/main" id="{6572B718-CB9B-4E4B-A69B-D2D7A1C5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7810500"/>
            <a:ext cx="4133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Completion test</a:t>
            </a:r>
          </a:p>
          <a:p xmlns:a="http://schemas.openxmlformats.org/drawingml/2006/main">
            <a:pPr algn="ctr">
              <a:defRPr sz="13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monitor ≠ q₁: return</a:t>
            </a:r>
          </a:p>
          <a:p xmlns:a="http://schemas.openxmlformats.org/drawingml/2006/main">
            <a:pPr algn="ctr">
              <a:defRPr sz="13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monitor = q₁: replay</a:t>
            </a:r>
          </a:p>
        </p:txBody>
      </p:sp>
      <p:sp>
        <p:nvSpPr>
          <p:cNvPr id="89" name="conjunctive-output">
            <a:extLst xmlns:a="http://schemas.openxmlformats.org/drawingml/2006/main">
              <a:ext uri="{FF2B5EF4-FFF2-40B4-BE49-F238E27FC236}">
                <a16:creationId xmlns:a16="http://schemas.microsoft.com/office/drawing/2014/main" id="{E0691B90-315E-4DF5-88A0-C534A8C9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524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7447B5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 i="0">
                <a:solidFill>
                  <a:srgbClr val="7447B5"/>
                </a:solidFill>
                <a:latin typeface="Cambria Math"/>
                <a:ea typeface="Cambria Math"/>
                <a:cs typeface="Cambria Math"/>
              </a:rPr>
              <a:t>Rq₁,χ₂</a:t>
            </a:r>
          </a:p>
        </p:txBody>
      </p:sp>
      <p:cxnSp>
        <p:nvCxnSpPr>
          <p:cNvPr id="195" name=""/>
          <p:cNvCxnSpPr>
            <a:stCxn xmlns:a="http://schemas.openxmlformats.org/drawingml/2006/main" id="38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2905125" y="5000625"/>
            <a:ext cx="33337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D7D46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96" name=""/>
          <p:cNvCxnSpPr>
            <a:stCxn xmlns:a="http://schemas.openxmlformats.org/drawingml/2006/main" id="55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15049500" y="5000625"/>
            <a:ext cx="33337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D7D46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97" name=""/>
          <p:cNvCxnSpPr>
            <a:stCxn xmlns:a="http://schemas.openxmlformats.org/drawingml/2006/main" id="42" idx="1"/>
            <a:endCxn xmlns:a="http://schemas.openxmlformats.org/drawingml/2006/main" id="65" idx="3"/>
          </p:cNvCxnSpPr>
          <p:nvPr/>
        </p:nvCxnSpPr>
        <p:spPr>
          <a:xfrm xmlns:a="http://schemas.openxmlformats.org/drawingml/2006/main" flipH="1">
            <a:off x="6048375" y="4267200"/>
            <a:ext cx="619125" cy="2828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7447B5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98" name=""/>
          <p:cNvCxnSpPr>
            <a:stCxn xmlns:a="http://schemas.openxmlformats.org/drawingml/2006/main" id="42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11620500" y="4267200"/>
            <a:ext cx="619125" cy="2828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7447B5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94" name="left-call-label">
            <a:extLst xmlns:a="http://schemas.openxmlformats.org/drawingml/2006/main">
              <a:ext uri="{FF2B5EF4-FFF2-40B4-BE49-F238E27FC236}">
                <a16:creationId xmlns:a16="http://schemas.microsoft.com/office/drawing/2014/main" id="{1775613C-9CB0-4312-B47B-90F660A3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048375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447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447B5"/>
                </a:solidFill>
                <a:latin typeface="Times New Roman"/>
                <a:ea typeface="Times New Roman"/>
                <a:cs typeface="Times New Roman"/>
              </a:rPr>
              <a:t>call</a:t>
            </a:r>
          </a:p>
        </p:txBody>
      </p:sp>
      <p:sp>
        <p:nvSpPr>
          <p:cNvPr id="95" name="right-call-label">
            <a:extLst xmlns:a="http://schemas.openxmlformats.org/drawingml/2006/main">
              <a:ext uri="{FF2B5EF4-FFF2-40B4-BE49-F238E27FC236}">
                <a16:creationId xmlns:a16="http://schemas.microsoft.com/office/drawing/2014/main" id="{3CB04FE2-1FD5-4728-9DCD-2F748462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048375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447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447B5"/>
                </a:solidFill>
                <a:latin typeface="Times New Roman"/>
                <a:ea typeface="Times New Roman"/>
                <a:cs typeface="Times New Roman"/>
              </a:rPr>
              <a:t>call</a:t>
            </a:r>
          </a:p>
        </p:txBody>
      </p:sp>
      <p:sp>
        <p:nvSpPr>
          <p:cNvPr id="96" name="single-query-plan-assembly-point">
            <a:extLst xmlns:a="http://schemas.openxmlformats.org/drawingml/2006/main">
              <a:ext uri="{FF2B5EF4-FFF2-40B4-BE49-F238E27FC236}">
                <a16:creationId xmlns:a16="http://schemas.microsoft.com/office/drawing/2014/main" id="{75C29AA8-A2A5-47A6-B614-DD05C5EE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72550"/>
            <a:ext cx="6858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447B5"/>
            </a:solidFill>
            <a:prstDash val="solid"/>
          </a:ln>
        </p:spPr>
      </p:sp>
      <p:sp>
        <p:nvSpPr>
          <p:cNvPr id="97" name="query-plan-union-title">
            <a:extLst xmlns:a="http://schemas.openxmlformats.org/drawingml/2006/main">
              <a:ext uri="{FF2B5EF4-FFF2-40B4-BE49-F238E27FC236}">
                <a16:creationId xmlns:a16="http://schemas.microsoft.com/office/drawing/2014/main" id="{6A0A1103-FE34-47FD-820B-112844FF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90582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7447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7447B5"/>
                </a:solidFill>
                <a:latin typeface="Times New Roman"/>
                <a:ea typeface="Times New Roman"/>
                <a:cs typeface="Times New Roman"/>
              </a:rPr>
              <a:t>Query-local plans</a:t>
            </a:r>
          </a:p>
        </p:txBody>
      </p:sp>
      <p:sp>
        <p:nvSpPr>
          <p:cNvPr id="98" name="query-plan-union-equation">
            <a:extLst xmlns:a="http://schemas.openxmlformats.org/drawingml/2006/main">
              <a:ext uri="{FF2B5EF4-FFF2-40B4-BE49-F238E27FC236}">
                <a16:creationId xmlns:a16="http://schemas.microsoft.com/office/drawing/2014/main" id="{DE9F08DE-8F05-4035-B1F4-6D4AEED1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935355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Qq = {dispatcher plans for gq} ∪ ⋃ᵐqᵢ₌₁ Rqᵢ,χᵢ</a:t>
            </a:r>
          </a:p>
        </p:txBody>
      </p:sp>
      <p:cxnSp>
        <p:nvCxnSpPr>
          <p:cNvPr id="204" name=""/>
          <p:cNvCxnSpPr>
            <a:stCxn xmlns:a="http://schemas.openxmlformats.org/drawingml/2006/main" id="42" idx="2"/>
            <a:endCxn xmlns:a="http://schemas.openxmlformats.org/drawingml/2006/main" id="96" idx="0"/>
          </p:cNvCxnSpPr>
          <p:nvPr/>
        </p:nvCxnSpPr>
        <p:spPr>
          <a:xfrm xmlns:a="http://schemas.openxmlformats.org/drawingml/2006/main">
            <a:off x="9144000" y="5105400"/>
            <a:ext cx="0" cy="3867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447B5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05" name=""/>
          <p:cNvCxnSpPr>
            <a:stCxn xmlns:a="http://schemas.openxmlformats.org/drawingml/2006/main" id="65" idx="2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3238500" y="8810625"/>
            <a:ext cx="2476500" cy="6572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0955">
            <a:solidFill>
              <a:srgbClr val="7447B5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06" name=""/>
          <p:cNvCxnSpPr>
            <a:stCxn xmlns:a="http://schemas.openxmlformats.org/drawingml/2006/main" id="74" idx="2"/>
            <a:endCxn xmlns:a="http://schemas.openxmlformats.org/drawingml/2006/main" id="96" idx="3"/>
          </p:cNvCxnSpPr>
          <p:nvPr/>
        </p:nvCxnSpPr>
        <p:spPr>
          <a:xfrm xmlns:a="http://schemas.openxmlformats.org/drawingml/2006/main" flipH="1">
            <a:off x="12573000" y="8810625"/>
            <a:ext cx="2476500" cy="6572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0955">
            <a:solidFill>
              <a:srgbClr val="7447B5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02" name="single-maintained-domain-library">
            <a:extLst xmlns:a="http://schemas.openxmlformats.org/drawingml/2006/main">
              <a:ext uri="{FF2B5EF4-FFF2-40B4-BE49-F238E27FC236}">
                <a16:creationId xmlns:a16="http://schemas.microsoft.com/office/drawing/2014/main" id="{68C1A1A3-B138-43CB-AF80-C6D1A142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0191750"/>
            <a:ext cx="58102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DDEFD8"/>
          </a:solidFill>
          <a:ln xmlns:a="http://schemas.openxmlformats.org/drawingml/2006/main" w="20955">
            <a:solidFill>
              <a:srgbClr val="2D7D46"/>
            </a:solidFill>
            <a:prstDash val="solid"/>
          </a:ln>
        </p:spPr>
      </p:sp>
      <p:sp>
        <p:nvSpPr>
          <p:cNvPr id="103" name="maintained-library-title">
            <a:extLst xmlns:a="http://schemas.openxmlformats.org/drawingml/2006/main">
              <a:ext uri="{FF2B5EF4-FFF2-40B4-BE49-F238E27FC236}">
                <a16:creationId xmlns:a16="http://schemas.microsoft.com/office/drawing/2014/main" id="{996CAC23-B6BF-4CC9-87C4-B7DB22F5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2584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D7D4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D7D46"/>
                </a:solidFill>
                <a:latin typeface="Times New Roman"/>
                <a:ea typeface="Times New Roman"/>
                <a:cs typeface="Times New Roman"/>
              </a:rPr>
              <a:t>Maintained executable plan library</a:t>
            </a:r>
          </a:p>
        </p:txBody>
      </p:sp>
      <p:sp>
        <p:nvSpPr>
          <p:cNvPr id="104" name="maintained-library-equation">
            <a:extLst xmlns:a="http://schemas.openxmlformats.org/drawingml/2006/main">
              <a:ext uri="{FF2B5EF4-FFF2-40B4-BE49-F238E27FC236}">
                <a16:creationId xmlns:a16="http://schemas.microsoft.com/office/drawing/2014/main" id="{7B12500A-C4C7-4B5D-BB3A-547ED928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5727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171717"/>
                </a:solidFill>
                <a:latin typeface="Cambria Math"/>
                <a:ea typeface="Cambria Math"/>
                <a:cs typeface="Cambria Math"/>
              </a:rPr>
              <a:t>LD[k+1] = LD[k] ∪ Qq     ·     MD unchanged</a:t>
            </a:r>
          </a:p>
        </p:txBody>
      </p:sp>
      <p:cxnSp>
        <p:nvCxnSpPr>
          <p:cNvPr id="210" name=""/>
          <p:cNvCxnSpPr>
            <a:stCxn xmlns:a="http://schemas.openxmlformats.org/drawingml/2006/main" id="96" idx="2"/>
            <a:endCxn xmlns:a="http://schemas.openxmlformats.org/drawingml/2006/main" id="102" idx="0"/>
          </p:cNvCxnSpPr>
          <p:nvPr/>
        </p:nvCxnSpPr>
        <p:spPr>
          <a:xfrm xmlns:a="http://schemas.openxmlformats.org/drawingml/2006/main">
            <a:off x="9144000" y="99631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447B5"/>
            </a:solidFill>
            <a:prstDash val="solid"/>
            <a:headEnd type="none" w="med" len="me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2823474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2026-07-21T07:54:02.1530000Z</dcterms:created>
  <dcterms:modified xsi:type="dcterms:W3CDTF">2026-07-21T07:54:02.1530000Z</dcterms:modified>
</coreProperties>
</file>